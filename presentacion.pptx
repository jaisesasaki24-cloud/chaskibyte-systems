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SISTEMAS DISTRIBUIDOS • EVALUACIÓN S05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CHASKIPC • HARDWARE &amp; GAMING STORE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Ecosistema Cloud-Native de Alta Disponibilidad para Comercio Electrónico y Facturación Fiscal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CHASKIBYTE SYSTEMS • EQUIPO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01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👤 Integrante 1: Eliceo Parillo Mostajo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Rol: Arquitectura Backend, Infraestructura Spring Cloud &amp; Persistencia.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pc-orden-ms (Transaccional): Cabecera-Detalle, IGV 18%, PostgreSQL (:5433).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pc-catalogo-ms (No Transaccional): Catálogo de Hardware &amp; Stock Gamer (:8081).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Infraestructura Core: Config Server (:8888), Eureka (:8761), Gateway (:18080).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Observabilidad: Prometheus (:19090) y Grafana (:13000) con dashboards JVM.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👤 Integrante 2: Laura Vargas Cristhian Paul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Rol: Pasarela de Pagos, Seguridad Perimetral y Contratos REST.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pc-pago-ms (Transaccional): Integración Mercado Pago Sandbox y Webhooks.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pc-auth-ms (No Transaccional): Gestión de Identidad y Control de Acceso.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pc-cliente-ms: Perfil de cliente con validadores RENIEC (DNI) y SUNAT (RUC).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Seguridad Distribuida: Aislamiento perimetral total desde el Gateway.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ROADMAP DE ARQUITECTURA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EVOLUCIÓN Y MADURACIÓN DEL ECOSISTEMA DISTRIBUIDO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Trayectoria sistemática desde componentes aislados hasta la orquestación perimetral con balanceo reactivo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ELICEO PARILLO MOSTAJO • PONENCIA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02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2029968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175564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S01. Dominio Base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CRUD REST completo en catalogo-ms y orden-ms.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Persistencia en PostgreSQL :5433.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Contratos DTO y validaciones normalizadas.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07791" y="2103120"/>
            <a:ext cx="2029968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1" y="2240279"/>
            <a:ext cx="175564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S02. Config Server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Spring Cloud Config en puerto :8888.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Repositorio config-repo externo versionado.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Factor III: Perfiles dev y prod sin secretos.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4064" y="2103120"/>
            <a:ext cx="2029968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1224" y="2240279"/>
            <a:ext cx="175564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S03. Eureka Server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Registro dinámico en puerto :8761.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Latidos heartbeats cada 30 segundos.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Observabilidad Prometheus y Grafana.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0336" y="2103120"/>
            <a:ext cx="2029968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97496" y="2240279"/>
            <a:ext cx="175564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S04. API Gateway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Gateway reactivo Netty en :18080.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Resolución de rutas lb:// dinámicas.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Balanceo Round-Robin verificado.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36608" y="2103120"/>
            <a:ext cx="2029968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73768" y="2240279"/>
            <a:ext cx="175564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S05. Ensamblaje Total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Ecosistema 100% ensamblado.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Aislamiento total de puertos internos.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Conformidad técnica de nivel sobresaliente.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DIAGNÓSTICO ARQUITECTURAL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LIMITACIONES ESTRUCTURALES DEL MODELO MONOLÍTICO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Factores críticos de colapso operacional, acoplamiento transaccional y justificación del particionamiento distribuido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ELICEO PARILLO MOSTAJO • PONENCIA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03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3154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💥 1. Colapso en Alta Concurrencia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CyberDays y promociones provocan ráfagas de consultas masivas.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Las lecturas saturan la cola de procesamiento e hilos del monolito.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El pool común se agota y se bloquea el cobro de pedidos.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Pérdida directa de transacciones y abandono de carritos.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240279"/>
            <a:ext cx="3154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⛓️ 2. Punto Único de Falla (SPOF)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Todos los módulos conviven en el mismo proceso ejecutable y JVM.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Si falla un módulo accesorio, se paraliza la plataforma entera.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Un bug en reportes o catálogo tumba el motor de facturación.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Cero aislamiento de fallos ni tolerancia activa a desastres.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2240279"/>
            <a:ext cx="3154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📈 3. Escalado Ineficiente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El catálogo se consulta masivamente más de lo que se compra.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El monolito obliga a duplicar toda la aplicación completa.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Desperdicio crítico de memoria RAM y núcleos de CPU.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Microservicios: Permite escalar elásticamente solo las réplicas saturadas.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DISEÑO DE ARQUITECTURA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ARQUITECTURA DISTRIBUIDA EN 4 CAPAS EMPRESARIALES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Segregación lógica estricta: Borde Perimetral, Infraestructura de Soporte, Dominio de Negocio y Persistencia Aislada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ELICEO PARILLO MOSTAJO • PONENCIA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04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25146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2240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🚪 1. Borde / Gateway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Spring Cloud Gateway.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Puerto :18080 DEV / :28080 PROD.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Netty reactivo no bloqueante.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Rutas lb:// y Round-Robin.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2103120"/>
            <a:ext cx="25146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79" y="2240279"/>
            <a:ext cx="2240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📡 2. Infraestructura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Eureka Server en puerto :8761.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Config Server en puerto :8888.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Latidos periódicos cada 30s.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Repositorio config-repo.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5146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240279"/>
            <a:ext cx="2240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⚙️ 3. Negocio / Core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pc-catalogo-ms (:8081).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pc-orden-ms R1 (:8082).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pc-orden-ms R2 (:8083).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pc-cliente-ms (:8084).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2103120"/>
            <a:ext cx="25146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2240279"/>
            <a:ext cx="2240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💾 4. Persistencia &amp; Obs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PostgreSQL Docker (:5433).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Prometheus (:19090).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Grafana (:13000) dashboards JVM.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Loki (:13100) &amp; Promtail.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INTERFACES Y CONTRATOS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MATRIZ DE CONTRATOS REST Y MODELO DE DOMINIO NORMALIZADO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Definición formal de DTOs, validaciones de esquema, cabecera-detalle fiscal y códigos de estado HTTP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CRISTHIAN PAUL LAURA VARGAS • PONENCIA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05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📦 Dominio de Inventario y Clientes (Eliceo Parillo)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pc-orden-ms (Transaccional - Puertos :8082 / :8083):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Modelo Cabecera-Detalle: Orden -&gt; DetalleOrden con @OneToMany.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Cálculo fiscal automatizado: Subtotal, IGV del 18% y Total.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POST /api/v1/ordenes (201 Created) | GET /{id} (200 OK / 404).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pc-catalogo-ms (No Transaccional - Puerto :8081):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Familias de hardware gamer: CPUs, GPUs, RAMs, SSDs.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GET /api/v1/productos (200 OK) y GET /api/v1/categorias.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💳 Dominio Transaccional e Infraestructura (Cristhian Paul)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pc-pago-ms (Transaccional):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Pasarela externa integrada con Mercado Pago Sandbox.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POST /api/v1/pagos (201 Created / 400 Bad Request).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Webhooks asíncronos para transición de estados de compra.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pc-cliente-ms (No Transaccional - Puerto :8084):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Perfil de cliente con validadores de identidad nacionales.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GET /api/v1/clientes/consulta-reniec/{dni} (8 dígitos).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GET /api/v1/clientes/consulta-sunat/{ruc} (11 dígitos, ACTIVO/HABIDO).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PRINCIPIOS TWELVE-FACTOR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GESTIÓN EXTERNALIZADA DE CONFIGURACIÓN: PERFILES DEV VS PROD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Inmutabilidad del artefacto compilado: desacoplamiento estricto de credenciales, almacenes de datos y endpoints de 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CRISTHIAN PAUL LAURA VARGAS • PONENCIA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06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🛠️ Perfil DEV (orden-ms-dev.yml)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Base de datos local: localhost:5433/orden_db.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DDL Hibernate: update (esquema evolutivo automático).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Nivel de Log: DEBUG (rastreo detallado de sentencias SQL e hilos).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Actuator: Expone health, info, metrics y prometheus abiertamente.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Eureka Server: Registro en http://localhost:8761/eureka/.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🚀 Perfil PROD (orden-ms-prod.yml)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Red interna Docker: Aislada en red puente pagatu-prod-net.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Credenciales protegidas: Variables ${POSTGRES_PASSWORD} (cero secretos en Git).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DDL Hibernate: validate (protección estricta contra alteraciones).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Actuator seguro: Información sensible oculta al exterior.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Resolución de host por nombre DNS de contenedor en Docker.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TOPOLOGÍA Y ENRUTAMIENTO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TOPOLOGÍA DE RED, ENRUTAMIENTO REACTIVO Y MAPEO DE PUERTOS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Resolución desacoplada mediante Service Registry (lb://) y blindaje perimetral contra exposición directa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ELICEO PARILLO MOSTAJO • PONENCIA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07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🗺️ Enrutamiento Perimetral en API Gateway (:18080)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1. /api/v1/ordenes/** -&gt; lb://pagatu-orden-ms (Round Robin :8082/:8083).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2. /api/v1/productos/** -&gt; lb://pagatu-catalogo-ms (:8081).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3. /api/v1/clientes/** -&gt; lb://pagatu-cliente-ms (:8084).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4. /api/v1/pagos/** -&gt; lb://pc-pago-ms.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5. Mapeo Jackson: @JsonManagedReference y @JsonBackReference eliminan bucles.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🌐 Matriz de Asignación de Puertos DEV vs PROD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pagatu-gateway: DEV :18080 | PROD interno :8080 | Expuesto :28080.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pagatu-config:  DEV :8888  | PROD interno :8888 | Expuesto :28888.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pagatu-eureka:  DEV :8761  | PROD interno :8761 | Expuesto :28761 (Web).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pagatu-catalogo-ms: DEV :8081 | PROD interno :8080 | Sin exponer.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pagatu-orden-ms:    DEV :8082/:8083 | PROD :8080   | Sin exponer.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Principio Perimetral: Todo el tráfico de negocio entra únicamente por Gateway.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FUNDAMENTOS CONCEPTUALES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CONCEPTOS FUNDAMENTALES DE INGENIERÍA DISTRIBUIDA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Definiciones formales y vocabulario arquitectural de rigor para la sustentación técnica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EQUIPO 01 • MARCO CONCEPTUAL DISTRIBUIDO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08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3154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🌐 Registro &amp; Descubrimiento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Desacoplamiento Espacial: Invocación por nombre lógico (PAGATU-ORDEN-MS).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Heartbeats (Latidos): Cada 30 seg renuevan el arrendamiento.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Eviction Timer: Desalojo automático a los 90 seg si faltan 3 latidos.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Self-Preservation Mode: Protección ante particiones masivas de 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240279"/>
            <a:ext cx="3154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🚪 Tráfico &amp; Gateway Reactivo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WebFlux &amp; Netty: Event-Loop reactivo (cero hilos bloqueados).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Pseudo-esquema lb://: Resuelto por Spring Cloud LoadBalancer.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Client-Side Load Balancing: Decisión tomada en memoria del Gateway.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Round-Robin en Stateless: Reparto 1:1 equitativo sin sticky sessions.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2240279"/>
            <a:ext cx="3154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💾 Persistencia &amp; Twelve-Factor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Factor III (Config): Artefacto inmutable desplegable en DEV y PROD.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Cabecera-Detalle: Orden -&gt; Detalle con cálculo de 18% IGV.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Recursión Jackson: Mitigación con ManagedReference y BackReference.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Semántica HTTP: Retorno de 201 Created, 400 Bad Request, 404 Not Found.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CRITERIOS DE CONFORMIDAD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MATRIZ DE CUMPLIMIENTO TÉCNICO Y CRITERIOS DE RÚBRICA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Evidencias cuantitativas y cualitativas de conformidad en los 6 ejes de auditoría del sistema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EQUIPO 01 • AUDITORÍA DE RÚBRICA S05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09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📋 Criterios 1 a 3 (50% de Ponderación)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1. Servicio REST funcional y persistente (15%): Nivel A (Sobresaliente)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CRUD completo de órdenes en PostgreSQL :5433 con cálculo de 18% IGV.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2. Configuración externa por ambiente (15%): Nivel A (Sobresaliente)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Config Server leyendo de config-repo con perfiles dev y prod segregados.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3. Registro y descubrimiento operativo (20%): Nivel A (Sobresaliente)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Eureka Server con 5 servicios registrados y visibles en dashboard :8761.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📋 Criterios 4 a 6 (50% de Ponderación)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4. Punto único de acceso mediante Gateway (20%): Nivel A (Sobresaliente)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Gateway en :18080 resolviendo rutas lb:// dinámicas sin acceso directo.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5. Distribución de tráfico entre instancias (20%): Nivel A (Sobresaliente)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2 réplicas de orden-ms balanceadas por Round-Robin y tolerancia probada.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6. Evidencias reproducibles y documentación (10%): Nivel A (Sobresaliente)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Scripts de 1 clic (iniciar_todo), README exhaustivo y suite de pruebas.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Dictamen de Calidad: Conformidad Integral Nivel Sobresaliente.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DEFENSA CONCEPTUAL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DEFENSA CONCEPTUAL Y FUNDAMENTACIÓN ARQUITECTURAL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Justificación rigurosa de los patrones aplicados, mitigación de fallos y decisiones de infraestructura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EQUIPO 01 • DEFENSA DE DECISIONES DE DISEÑO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10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🎙️ Fundamentos de Red y Configuración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P1: ¿Por qué evitar puertos fijos y cómo verificar concurrencia?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R: Los puertos fijos impiden el escalado elástico y provocan colisiones de red. Con puertos dinámicos ($env:SERVER_PORT=8083), múltiples réplicas corren en el mismo host y se registran en Eureka con instance-id único.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P2: ¿Diferencia entre propiedad fija y Config Server (DEV vs PROD)?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R: Principio Twelve-Factor III: estricta separación de configuración y código. Un solo JAR inmutable se despliega en DEV y PROD alternando el perfil activo sin recompilar y sin exponer credenciales en Git.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🎙️ Resiliencia, Gateway y Balanceo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P3: Si apagas una instancia, ¿cómo se entera Eureka y por qué no es instantáneo?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R: Por latidos heartbeats (30s). Eureka espera la expiración del arrendamiento (90s o 3 latidos) antes del eviction timer. Evita desalojos prematuros por parpadeos de red y activa el Self-Preservation Mode.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P4: ¿Por qué lb:// no es real y qué componente lo resuelve?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R: Es un pseudo-esquema URI lógico resuelto por Spring Cloud LoadBalancer consultando el Eureka Client para obtener los sockets físicos.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P5: ¿Por qué Round-Robin es suficiente para instancias sin estado?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R: Porque las réplicas son stateless. El estado reside en PostgreSQL.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METODOLOGÍA DE SUSTENTACIÓN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ESTRUCTURA DE DEFENSA TÉCNICA Y PROTOCOLO DE VALIDACIÓN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Plan sistemático de sustentación: fundamentación teórica, validación funcional en caliente y defensa conceptual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EQUIPO 01 • PROTOCOLO DE VALIDACIÓN EN VIVO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11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3154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🏛️ Fase I: Fundamentación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Marco conceptual y topología: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Diagnóstico y Topología (Eliceo Parillo):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Descomposición del monolito y mitigación de SPOF.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Topología en 4 capas desacopladas.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Roles de Eureka, Config y Gateway.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Contratos y Despliegue (Cristhian Paul):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Especificación de contratos REST normalizados.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Modelo Cabecera-Detalle y fiscalidad IGV 18%.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Factor III: Inmutabilidad en DEV vs PROD.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240279"/>
            <a:ext cx="3154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⚡ Fase II: Demostración en Caliente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Verificación funcional y resiliencia: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Flujo Transaccional (Cristhian Paul):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Emisión de Orden con 201 Created persistida en BD.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Rechazo de esquema inválido (400 Bad Request).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Control de excepciones por recurso inexistente (404).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Alta Disponibilidad y Resiliencia (Eliceo Parillo):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Balanceo dinámico Round-Robin comprobado.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Tolerancia a fallos: Apagado en vivo de :8082 sin interrupción del servicio.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2240279"/>
            <a:ext cx="3154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🎯 Fase III: Ronda de Preguntas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Auditoría conceptual de arquitectura: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Defensa Técnica de Alto Nivel: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Justificación rigurosa de los trade-offs de arquitectura ante el jurado evaluador.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Dominio de Infraestructura (Eliceo Parillo): Aislamiento de puertos, enrutamiento Gateway y configuración centralizada.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• Resiliencia y Concurrencia (Cristhian Paul): Margen de disponibilidad AP en Eureka, ciclo de Heartbeats y balanceo Client-Side.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Conformidad Integral Demostrada.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AUDITORÍA DE ARTEFACTOS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PANEL DE EVIDENCIAS Y TRAZABILIDAD OPERATIVA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Inspección de artefactos en ejecución: Config Server, Service Registry, réplicas transaccionales y respuestas HTTP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EQUIPO 01 • AUDITORÍA DE EVIDENCIAS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12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38404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3566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📸 Catálogo de Evidencias 1080p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01. Config Server Centralizado (:8888) - config-repo.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02. Eureka Server (:8761) - Registro dinámico.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03. pc-catalogo-ms (:8081) - Catálogo gamer.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04. pc-orden-ms Instancia 1 (:8082) - BD PostgreSQL.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05. pc-orden-ms Instancia 2 (:8083) - Balanceo.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06. Dashboard Web de Eureka - 5 instancias UP.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07. Pruebas CRUD PowerShell - POST 201 y 18% IGV.</a:t>
            </a:r>
          </a:p>
        </p:txBody>
      </p:sp>
      <p:pic>
        <p:nvPicPr>
          <p:cNvPr id="14" name="Picture 13" descr="evidencia_6_eureka_web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103120"/>
            <a:ext cx="65836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84048"/>
            <a:ext cx="365760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A1A1AA"/>
                </a:solidFill>
              </a:defRPr>
            </a:pPr>
            <a:r>
              <a:t>DEMOSTRACIÓN EN TIEMPO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5156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CONSOLA DE CONTROL OPERATIVO &amp; SUITE DE PRUEBAS EN VIVO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Monitoreo de telemetría de microservicios, ejecución de transacciones y auditoría de balanceo Round-Robin en tiempo real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1A1AA"/>
                </a:solidFill>
              </a:defRPr>
            </a:pPr>
            <a:r>
              <a:t>🎙️ EQUIPO 01 • DEMOSTRACIÓN OPERATIVA EN VIVO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217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71717A"/>
                </a:solidFill>
              </a:defRPr>
            </a:pPr>
            <a:r>
              <a:t>13 /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⚡ Cockpit Integrado en http://localhost:5050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1. Lanzadores Automatizados: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Iniciar Ecosistema Completo (iniciar_todo.bat)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Iniciar PostgreSQL 15 en Docker (:5433)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Iniciar Grafana (:13000) y Prometheus (:19090)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Limpieza preventiva de puertos huérfanos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2. Monitoreo de Telemetría Activa: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   • Sondeo continuo de 8 servicios (Eureka, Gateway, Config, Catalogo, Orden 1, Orden 2, Postgres, Grafana).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240279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🧪 Suite de Pruebas Automatizadas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1. Test 201 Created: Emite orden con IGV 18% persistida en BD.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2. Test 400 Bad Request: Valida rechazo por payload nulo o inválido.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3. Test 404 Not Found: Control de excepción ante ID inexistente.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4. Test Balanceo: Envía 4 peticiones comprobando Round-Robin.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5. Simulación de Falla: Detiene instancia forzosamente comprobando tolerancia a fallos sin corte de servicio.</a:t>
            </a:r>
          </a:p>
          <a:p>
            <a:pPr>
              <a:spcBef>
                <a:spcPts val="300"/>
              </a:spcBef>
              <a:defRPr sz="900">
                <a:solidFill>
                  <a:srgbClr val="A1A1AA"/>
                </a:solidFill>
              </a:defRPr>
            </a:pPr>
            <a:r>
              <a:t>• Operable en tiempo real desde la presentación web.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
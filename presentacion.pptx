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r>
              <a:t>DESARROLLO DE APLICACIONES DISTRIBUIDAS • UNIDAD I</a:t>
            </a:r>
          </a:p>
          <a:p>
            <a:pPr algn="ctr">
              <a:defRPr sz="3600" b="1">
                <a:solidFill>
                  <a:srgbClr val="38BDF8"/>
                </a:solidFill>
              </a:defRPr>
            </a:pPr>
            <a:r>
              <a:t>ChaskiPC: Hardware E-Commerce</a:t>
            </a:r>
          </a:p>
          <a:p>
            <a:pPr algn="ctr">
              <a:defRPr sz="2000">
                <a:solidFill>
                  <a:srgbClr val="F1F5F9"/>
                </a:solidFill>
              </a:defRPr>
            </a:pPr>
            <a:r>
              <a:t>Sistema Distribuido Base Orientado a Producción (S1 a S5)</a:t>
            </a:r>
          </a:p>
          <a:p>
            <a:br/>
          </a:p>
          <a:p>
            <a:pPr algn="ctr">
              <a:defRPr sz="1500" b="1">
                <a:solidFill>
                  <a:srgbClr val="10B981"/>
                </a:solidFill>
              </a:defRPr>
            </a:pPr>
            <a:r>
              <a:t>Estudiante: Eliceo Parillo Mostajo   |   Equipo: Equipo 01 / Grupo 4 - ChaskiByte Systems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Docente: Ing. Abel Ángel Sullón Macalupu   |   Semestre 2026-2 (5to Ciclo)</a:t>
            </a:r>
          </a:p>
          <a:p>
            <a:pPr algn="ctr">
              <a:defRPr sz="1300">
                <a:solidFill>
                  <a:srgbClr val="38BDF8"/>
                </a:solidFill>
              </a:defRPr>
            </a:pPr>
            <a:r>
              <a:t>Repositorio: https://github.com/jaisesasaki24-cloud/ChaskiByte-Systems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CHASKIPC • EVALUACIÓN UNIDAD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2.4 Arquitectura del Sistema Distribuido 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API GATEWAY (:18080 DEV / :28080 PROD)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Punto único de acceso público reactivo (Netty/WebFlux). Resuelve rutas lógicas lb:// hacia microservicios con balanceo Round Robin.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EUREKA SERVER (:8761 DEV / :28761 PROD)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Registro y descubrimiento dinámico de microservicios. Supervisa el ciclo de vida e instancias vivas mediante latidos (heartbeats cada 30s).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CONFIG SERVER (:8888 DEV / :28888 PROD)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Servidor de configuraciones centralizadas. Lee perfiles dev/prod desde config-repo desacoplando la configuración del código fuente (Factor III).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CATÁLOGO HARDWARE (:8081)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Microservicio no transaccional de componentes de PC (CPUs, GPUs, RAM, Almacenamiento). Incluye DataInitializer de precarga.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84048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ÓRDENES TRANSACCIONAL (:8082 y :8083)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Microservicio de compras con modelo Cabecera-Detalle, 18% IGV y persistencia en PostgreSQL compartida. Ejecución concurrente.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84048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STACK DE OBSERVABILIDAD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Prometheus (:19090) con Eureka Service Discovery + Grafana (:13000) con dashboards auto-cargados + Loki (:13100) y Promtail para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CHASKIPC • EVALUACIÓN UNIDAD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2.1 y 2.2 Alcance de Servicios y Contrato REST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2743200"/>
                <a:gridCol w="2011680"/>
                <a:gridCol w="246888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Microservicio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Método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Endpoint (vía Gateway :18080)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Códigos HTTP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Descripción de Negocio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Catálogo Hardware (No transaccional)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/api/v1/categorias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200 OK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Lista categorías: Procesadores, GPUs, RAM, etc.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Catálogo Hardware (No transaccional)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GET, POST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/api/v1/productos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200 OK, 201 Created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Consulta catálogo con stock y ficha técnica.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Órdenes ChaskiPC (Transaccional)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/api/v1/ordenes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200 OK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Lista general de órdenes balanceadas con Round Robin.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Órdenes ChaskiPC (Transaccional)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/api/v1/ordenes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201 Created, 400 Bad Request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Crea orden con ítems, comprobante y 18% IGV.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Órdenes ChaskiPC (Transaccional)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/api/v1/ordenes/{id}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200 OK, 404 Not Found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Consulta detalle de compra por ID con validación.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CHASKIPC • EVALUACIÓN UNIDAD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2.3 Configuración Externalizada por Ambiente (DEV vs PROD)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AMBIENTE DESARROLLO (DEV) - config-repo/*-dev.yml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Puerto Local: Servicios corriendo en host local (8081, 8082, 8083, 18080).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Base de Datos: PostgreSQL expuesto en localhost:5433 (orden_db).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Hibernate DDL: ddl-auto: update (permite desarrollo ágil y creación automática).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Logging: Nivel detallado y escritura directa en logs/*.log para Promtail.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Actuator: Endpoints abiertos (health, info, metrics, prometheus) sin restricción.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AMBIENTE PRODUCCIÓN (PROD) - infra/compose.yml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• Único Puerto Público: Solo el Gateway expuesto al host en puerto 28080.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Red Aislada: Todos los microservicios viven dentro de la red pagatu-prod-net.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Hibernate DDL: ddl-auto: validate (prohibición estricta de alterar tablas en caliente).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Seguridad: Credenciales inyectadas exclusivamente mediante variables de entorno.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Cero Hardcoding: Factor III de Twelve-Factor App garantizado al 100%.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CHASKIPC • EVALUACIÓN UNIDAD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4. Sustentación del Sistema en Vivo (Demo Técnica de 5 min)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1. Paso 1: Contrato REST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Mostrar la invocación de endpoints desde el Gateway http://localhost:18080/api/v1/ordenes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512064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2. Paso 2: Ejecución CRUD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Caso éxito (201) con creación de orden gamer y casos de error (400 datos inválidos y 404 no encontrado).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3. Paso 3: Config Server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Consultar http://localhost:8888/pagatu-orden-ms/dev evidenciando la entrega dinámica de parámetros.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512064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4. Paso 4: Eureka Dashboard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Abrir http://localhost:8761 mostrando PAGATU-ORDEN-MS (2) y PAGATU-GATEWAY en estado UP simultáneo.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5. Paso 5: Balanceo Round Robin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Disparar 4 peticiones seguidas al Gateway y mostrar la alternancia en los logs entre el puerto 8082 y 8083.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43200"/>
            <a:ext cx="512064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6. Paso 6: Tolerancia a Fallos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Detener la consola del puerto 8082; el Gateway sigue atendiendo peticiones desde la 8083 sin errores.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114800"/>
            <a:ext cx="512064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7. Paso 7: Dominio ChaskiPC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Explicar la propuesta de valor: e-commerce de componentes informáticos de alta gama e integración fiscal.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CHASKIPC • EVALUACIÓN UNIDAD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Bitácora DevOps: Resolución de los 7 Desafíos de Laboratorio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1. Rutas Quemadas (Hardcoded)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Solución: Uso de rutas relativas dinámicas en Python y PowerShell (Split-Path / abspath).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512064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2. Falta de Python en Lab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Solución: Creación de iniciar_todo.ps1 (100% nativo PowerShell, cero dependencias).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3. Conflicto Java 17/21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Solución: Autodetección inteligente de JDK 21 e inyección forzada de $env:JAVA_HOME.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512064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4. Comillas en PowerShell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Solución: Sustitución por variable nativa $env:SERVER_PORT='8083' sin errores léxicos.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5. Config Server Desconectado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Solución: Interpolación con ${CONFIG_REPO_PATH:file:../config-repo} y fallback dinámico.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43200"/>
            <a:ext cx="512064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6. PostgreSQL Apagado (5433)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Solución: Creación de infra/docker-compose-db.yml y script de un clic iniciar_db.bat.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114800"/>
            <a:ext cx="512064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7. Error de Autenticación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Solución: Estandarización de usuario admin y clave adminpassword en postgres.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CHASKIPC • EVALUACIÓN UNIDAD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3. Evaluación Teórico-Práctica (Balotario Clave Respondido)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38BDF8"/>
                </a:solidFill>
              </a:defRPr>
            </a:pPr>
            <a:r>
              <a:t>1. ¿Por qué no depender de puertos fijos asignados a mano?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Impide el escalado horizontal. Con instance-id: ${app.name}:${server.port} y Eureka, los microservicios se registran como nodos efímeros dinámicos.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38BDF8"/>
                </a:solidFill>
              </a:defRPr>
            </a:pPr>
            <a:r>
              <a:t>2. ¿Config Server vs Propiedad fija en código (DEV vs PROD)?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Evita recompilar artefactos JAR ante cambios de entorno. En DEV se usa DB local y DDL update; en PROD se usan secretos y DDL validate (Factor III).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38BDF8"/>
                </a:solidFill>
              </a:defRPr>
            </a:pPr>
            <a:r>
              <a:t>3. ¿Por qué el desalojo en Eureka no es instantáneo al caer una instancia?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Evita el 'flapping' (inestabilidad por latencia transitoria). Eureka espera el latido (30s) y vencimiento del arrendamiento (90s) antes de desalojar.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38BDF8"/>
                </a:solidFill>
              </a:defRPr>
            </a:pPr>
            <a:r>
              <a:t>4. ¿Por qué la dirección lb:// no es real y quién la resuelve?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lb:// es un esquema lógico de Spring Cloud LoadBalancer. El Gateway consulta la lista de réplicas vivas en Eureka y reescribe la URL a la IP física.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38BDF8"/>
                </a:solidFill>
              </a:defRPr>
            </a:pPr>
            <a:r>
              <a:t>5. ¿Por qué Round Robin es suficiente para instancias sin estado?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En arquitecturas stateless todo el estado reside en PostgreSQL compartida. Cada petición es químicamente autónoma y no requiere afinidad de sesión.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CHASKIPC • EVALUACIÓN UNIDAD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5. Rúbrica de Evaluación de la Unidad I (Cálculo Oficial 20/20)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097280"/>
                <a:gridCol w="1371600"/>
                <a:gridCol w="4754880"/>
              </a:tblGrid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Criterio Oficial del Sílabo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Peso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Nivel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Justificación y Evidencia Técnica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1. Servicio REST funcional y persistente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Nivel A (20)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JPA sobre PostgreSQL (5433), CRUD de catálogo y órdenes con DataInitializer.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2. Configuración externa por ambiente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Nivel A (20)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Config Server operativo con segregación verificable entre DEV y PROD en config-repo.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3. Registro y descubrimiento de servicios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Nivel A (20)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Eureka Server administrando el ciclo de vida y latidos de todos los nodos en vivo.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4. Punto único de acceso mediante Gateway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Nivel A (20)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Spring Cloud Gateway enrutando peticiones dinámicas en el puerto 18080 con lb://.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5. Distribución de tráfico entre instancias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Nivel A (20)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Dos instancias concurrentes (8082 y 8083) balanceadas con Round Robin y tolerancia a fallos.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6. Ejecución reproducible y documentación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Nivel A (20)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</a:defRPr>
                      </a:pPr>
                      <a:r>
                        <a:t>Lanzadores automatizados de un clic, README completo y portabilidad probada.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
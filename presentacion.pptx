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18CF8"/>
                </a:solidFill>
              </a:defRPr>
            </a:pPr>
            <a:r>
              <a:t>DESARROLLO DE APLICACIONES DISTRIBUIDAS • UNIDAD I</a:t>
            </a:r>
          </a:p>
          <a:p>
            <a:pPr algn="ctr">
              <a:defRPr sz="3400" b="1">
                <a:solidFill>
                  <a:srgbClr val="38BDF8"/>
                </a:solidFill>
              </a:defRPr>
            </a:pPr>
            <a:r>
              <a:t>ChaskiPC: Hardware E-Commerce</a:t>
            </a:r>
          </a:p>
          <a:p>
            <a:pPr algn="ctr">
              <a:defRPr sz="1700">
                <a:solidFill>
                  <a:srgbClr val="F1F5F9"/>
                </a:solidFill>
              </a:defRPr>
            </a:pPr>
            <a:r>
              <a:t>Sistema Distribuido para la Venta de Computadoras y Componentes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475488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👨‍💻 Eliceo Parillo Mostajo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Énfasis: Arquitectura Backend, Eureka, Gateway y Catálogo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Microservicio Transaccional: pc-orden-ms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(Cabecera-Detalle, cálculo automático de 18% IGV y estados)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Microservicio No Transaccional: pc-catalogo-ms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(Inventario de hardware: CPUs, GPUs, RAM y control de stock)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743200"/>
            <a:ext cx="4754880" cy="2560320"/>
          </a:xfrm>
          <a:prstGeom prst="round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💳 Laura Vargas Cristhian Paul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Énfasis: Pasarela Externa (Mercado Pago), Seguridad y JWT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Microservicio Transaccional: pc-pago-ms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(Mercado Pago Checkout Pro, preferencias y Webhook asíncrono)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Microservicio No Transaccional: pc-auth-ms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  (Proveedor de identidad, contraseñas BCrypt y roles CLIENTE/ADMIN)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Equipo 01 / Grupo 4 - ChaskiByte Systems   |   Docente: Ing. Abel Ángel Sullón Macalupu   |   Semestre 2026-2</a:t>
            </a:r>
          </a:p>
          <a:p>
            <a:pPr algn="ctr">
              <a:defRPr sz="1150">
                <a:solidFill>
                  <a:srgbClr val="38BDF8"/>
                </a:solidFill>
              </a:defRPr>
            </a:pPr>
            <a:r>
              <a:t>Repositorio: https://github.com/jaisesasaki24-cloud/ChaskiByte-Systems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1. Dominio del Proyecto y Asignación de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Eliceo Parillo (Min 1-2)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🎯 Problema y Flujo Operativo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Resuelve la adquisición y cotización de hardware gamer y computadoras ensambladas con stock en tiempo real.</a:t>
            </a:r>
            <a:br/>
            <a:br/>
            <a:r>
              <a:t>Flujo Operativo Distribuido:</a:t>
            </a:r>
            <a:br/>
            <a:r>
              <a:t>Catálogo (pc-catalogo) ➔ Órdenes (pc-orden) ➔ Pagos (pc-pago) ➔ Seguridad (pc-auth)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20116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👥 Actores y Pasarela Externa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Cliente / Comprador: Explora componentes, filtra ficha técnica y paga en línea.</a:t>
            </a:r>
            <a:br/>
            <a:r>
              <a:t>• Administrador: Administra inventario, repone existencias y audita transacciones.</a:t>
            </a:r>
            <a:br/>
            <a:r>
              <a:t>• Servicio Externo Real: Mercado Pago API (Checkout Pro / Webhook IPN Sandbox).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6576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2286000"/>
                <a:gridCol w="1828800"/>
                <a:gridCol w="1280160"/>
              </a:tblGrid>
              <a:tr h="8534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Integrante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Énfasis / Rol Previsto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Ms. Transaccional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Ms. No Transaccional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Estado U1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Eliceo Parillo Mostajo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Arquitectura backend, órdenes de compra y catálogo hardware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pc-orden-ms (Cabecera-Detalle, IGV)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pc-catalogo-ms (Hardware)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Operativo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Laura Vargas Cristhian Paul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Pasarela de pagos externa, seguridad y tokens JWT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pc-pago-ms (Mercado Pago)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pc-auth-ms (JWT, BCrypt)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1F5F9"/>
                          </a:solidFill>
                        </a:defRPr>
                      </a:pPr>
                      <a:r>
                        <a:t>Diseñado U2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2.4 Arquitectura del Sistema Distribuido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Eliceo Parillo (Min 3-4)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API GATEWAY (:18080 DEV / :28080 PROD)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Punto único de acceso reactivo (Netty/WebFlux). Resuelve rutas lb:// hacia microservicios con balanceo Round Robin.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EUREKA SERVER (:8761 DEV / :28761 PROD)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Service Registry dinámico. Supervisa el ciclo de vida y latidos periódicos (heartbeats cada 30s) sin puertos cableados a mano.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CONFIG SERVER (:8888 DEV / :28888 PROD)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Configuración centralizada. Sirve perfiles dev/prod desde config-repo desacoplando parámetros del código (Factor III).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CATÁLOGO HARDWARE (:8081)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Microservicio no transaccional con inventario de componentes (CPUs, GPUs, RAM). Incluye DataInitializer de precarga.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84048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ÓRDENES TRANSACCIONAL (:8082 y :8083)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Microservicio de compras con modelo Cabecera-Detalle, 18% IGV y persistencia en PostgreSQL compartida. 2 réplicas concurrentes.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840480"/>
            <a:ext cx="3383280" cy="219456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OBSERVABILIDAD Y PERSISTENCIA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PostgreSQL (:5433 orden_db) + Prometheus (:19090 Eureka Discovery) + Grafana (:13000) + Loki (:13100) y Promtail.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2.1 y 2.2 Alcance y Contrato REST por Integrante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Cristhian Paul (Min 5-6)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📦 Microservicios de Eliceo Parillo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1. pc-catalogo-ms (No transaccional):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Entidades: Categoria y Producto (SKU, marca, stock, precio).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GET /api/v1/categorias: Lista categorías de componentes.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GET /api/v1/productos: Catálogo general con stock y filtros.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POST /api/v1/productos: Registra nuevos componentes.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2. pc-orden-ms (Transaccional):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Cabecera-Detalle: Orden y DetalleOrden vinculados.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Lógica Fiscal: Cálculo automático de subtotal, 18% IGV y total.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POST /api/v1/ordenes: Emite orden (201 Created / 400 Bad Request).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GET /api/v1/ordenes/{id}: Consulta por ID (404 Not Found si no existe).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PUT /api/v1/ordenes/{id}/estado: Actualiza estado tras el pago.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💳 Microservicios de Cristhian Paul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1. pc-pago-ms (Transaccional - Pasarela Mercado Pago):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Cabecera-Detalle: Pago y TransaccionPasarela.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POST /api/v1/pagos/checkout: Genera preferencia en Mercado Pago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y retorna el link de cobro (Sandbox).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POST /api/v1/pagos/webhook: Recepción asíncrona de notificación IPN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  y confirmación del cobro approved.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GET /api/v1/pagos/orden/{id}: Estado financiero de la orden.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2. pc-auth-ms (No transaccional - Seguridad JWT):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Proveedor de identidad y control de acceso.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Encriptación: Claves protegidas con BCrypt.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POST /api/v1/auth/login: Autenticación y retorno de JWT firmado.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GET /api/v1/auth/validate: Validación del token para el Gateway.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2.3 Configuración Externalizada DEV vs PROD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Cristhian Paul (Min 7-8)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AMBIENTE DESARROLLO (DEV) - config-repo/*-dev.yml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Puertos Host: Microservicios en puertos locales (8081, 8082, 8083, 18080).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Base de Datos: PostgreSQL expuesto en localhost:5433 (orden_db).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Hibernate DDL: ddl-auto: update (permite iteración ágil y creación de tablas).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Logging: Nivel detallado y escritura directa en logs/*.log para Promtail.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Actuator: Endpoints abiertos (health, info, metrics, prometheus).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AMBIENTE PRODUCCIÓN (PROD) - infra/compose.yml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Único Puerto Público: Solo el API Gateway expuesto en puerto 28080.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Red Aislada: Microservicios confinados en la red interna pagatu-prod-net.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Hibernate DDL: ddl-auto: validate (prohíbe alterar esquemas en producción).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Seguridad: Credenciales inyectadas mediante variables de entorno seguras.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• Factor III: Mismo binario JAR compilado, configuración desacoplada al 100%.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3. Evidencias Técnicas Oficiales de la Unidad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Eliceo Parillo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3.1 Eureka Dashboard (:8761)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PAGATU-GATEWAY registrado en puerto 18080.</a:t>
            </a:r>
            <a:br/>
            <a:r>
              <a:t>• PAGATU-CATALOGO-MS registrado en puerto 8081.</a:t>
            </a:r>
            <a:br/>
            <a:r>
              <a:t>• PAGATU-ORDEN-MS registrado con 2 instancias simultáneas:</a:t>
            </a:r>
            <a:br/>
            <a:r>
              <a:t>  - Instancia 1 en puerto 8082 (UP)</a:t>
            </a:r>
            <a:br/>
            <a:r>
              <a:t>  - Instancia 2 en puerto 8083 (UP)</a:t>
            </a:r>
            <a:br/>
            <a:r>
              <a:t>• Fecha, hora de Windows y usuario visibles en pantalla.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3.2 Persistencia Compartida en PostgreSQL (:5433)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Contenedor Docker chaskipc-db-orden en puerto 5433.</a:t>
            </a:r>
            <a:br/>
            <a:r>
              <a:t>• Base de datos relacional orden_db compartida entre réplicas.</a:t>
            </a:r>
            <a:br/>
            <a:r>
              <a:t>• Consulta PowerShell por puerto 8082 retorna las órdenes.</a:t>
            </a:r>
            <a:br/>
            <a:r>
              <a:t>• Consulta PowerShell por puerto 8083 retorna exactamente los mismos datos.</a:t>
            </a:r>
            <a:br/>
            <a:r>
              <a:t>• Evidencia de persistencia concurrente validada en consola.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4. Guion de Sustentación Coordinado a Dos Voces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Ambos Integrantes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291840"/>
                <a:gridCol w="2103120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Momento / Tiempo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Qué Expone: Eliceo Parillo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Qué Expone: Cristhian Paul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Propósito Evaluado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1. Presentación Técnica (8 min)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• Introducción y dominio ChaskiPC.</a:t>
                      </a:r>
                    </a:p>
                    <a:p>
                      <a:r>
                        <a:t>• Arquitectura base (Gateway, Eureka, Config).</a:t>
                      </a:r>
                    </a:p>
                    <a:p>
                      <a:r>
                        <a:t>• Catálogo Hardware (pc-catalogo-ms).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• Órdenes de compra y cálculo de 18% IGV.</a:t>
                      </a:r>
                    </a:p>
                    <a:p>
                      <a:r>
                        <a:t>• Configuración DEV vs PROD (config-repo).</a:t>
                      </a:r>
                    </a:p>
                    <a:p>
                      <a:r>
                        <a:t>• Proyección Mercado Pago y JWT (Unidad II).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Dominio de la arquitectura y decisiones técnicas.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2. Demo Técnica en Vivo (5 min)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• Muestra Eureka con 2 réplicas UP.</a:t>
                      </a:r>
                    </a:p>
                    <a:p>
                      <a:r>
                        <a:t>• Demuestra balanceo Round Robin en consolas.</a:t>
                      </a:r>
                    </a:p>
                    <a:p>
                      <a:r>
                        <a:t>• Demuestra tolerancia a fallos apagando 8082.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• Ejecuta CRUD Éxito (201) con Ryzen 7.</a:t>
                      </a:r>
                    </a:p>
                    <a:p>
                      <a:r>
                        <a:t>• Ejecuta Caso Error Validación (400).</a:t>
                      </a:r>
                    </a:p>
                    <a:p>
                      <a:r>
                        <a:t>• Ejecuta Caso No Encontrado (404).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Funcionamiento en vivo en la computadora.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3. Preguntas Individuales (5 min)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Responde preguntas de puertos no fijos y Config Server.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Responde preguntas de desalojo Eureka y esquema lb://.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Verificar autoría individual de cada estudiante.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Centro de Mando: Demostración Técnica en Vivo (5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Eliceo &amp; Cristhian Paul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🌐 Enlaces en Vivo (Abre con 1 Clic en presentacion.html)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1. Eureka Dashboard: http://localhost:8761 (Ver 2 réplicas UP)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2. Gateway Órdenes: http://localhost:18080/api/v1/ordenes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3. Gateway Catálogo: http://localhost:18080/api/v1/productos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4. Config Server DEV: http://localhost:8888/pagatu-orden-ms/dev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5. Grafana Dashboard: http://localhost:13000 (admin / admin)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6. Prometheus Targets: http://localhost:19090/targets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💡 Iniciador Automático: Doble clic en iniciar_todo.bat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📋 Comandos de Prueba Asignados para PowerShell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[Ejecuta: Cristhian Paul] Paso 2: Caso Éxito (201 Created)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Envía JSON con Ryzen 7 7800X3D y calcula 18% IGV automáticamente.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[Ejecuta: Cristhian Paul] Paso 2: Casos de Error (400 y 404)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Envía body vacío para validación 400 y consulta orden 99999 (404).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[Ejecuta: Eliceo Parillo] Paso 5: Balanceo Round Robin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Dispara 4 peticiones al Gateway y muestra alternancia 8082 vs 8083.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[Ejecuta: Eliceo Parillo] Paso 6: Tolerancia a Fallos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Detiene la consola 8082 y muestra respuesta inmediata desde la 8083.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Bitácora DevOps: Resolución de los 7 Desafíos en Laboratorio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Ambos Integrantes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1. Hardcoded Paths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Rutas relativas dinámicas en Python y PowerShell (Split-Path).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2. Falta de Python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Lanzador nativo iniciar_todo.ps1 en PowerShell puro sin dependencias.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3. Conflicto Java 17/21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Autodetección de JDK 21 e inyección forzada de $env:JAVA_HOME.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492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4. Comillas PowerShell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Reemplazo por $env:SERVER_PORT='8083' nativo de Spring Boot.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5. Config Server Vacío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Interpolación con ${CONFIG_REPO_PATH:file:../config-repo} y fallback.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6. PostgreSQL Apagado (5433)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Script iniciar_db.bat y docker-compose-db.yml en puerto 5433.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114800"/>
            <a:ext cx="5120640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7. Error de Autenticación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Solución: Estandarización de usuario admin y clave adminpassword.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3. Balotario Teórico Asignado por Integrante (Tabla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Ambos Integrantes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🎤 Preguntas para Eliceo Parillo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1. ¿Por qué no depender de un puerto fijo asignado a mano?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Impide el escalado horizontal. Al usar instance-id: ${app.name}:${server.port} con Eureka, los nodos son efímeros y se anuncian dinámicamente sin colisiones de socket.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2. ¿Config Server vs Propiedad en código (DEV vs PROD)?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Evita recompilar artefactos JAR ante cambios de entorno (Factor III). En DEV se usa DB local y DDL update; en PROD se inyectan variables seguras y DDL validate.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12064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🎤 Preguntas para Cristhian Paul</a:t>
            </a:r>
          </a:p>
          <a:p>
            <a:br/>
            <a:pPr>
              <a:defRPr sz="1000">
                <a:solidFill>
                  <a:srgbClr val="F1F5F9"/>
                </a:solidFill>
              </a:defRPr>
            </a:pPr>
            <a:r>
              <a:t>3. ¿Por qué el desalojo en Eureka no es instantáneo?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Evita el flapping (inestabilidad por latencia transitoria). Eureka espera el latido (30s) y vencimiento del arrendamiento (90s) antes de desalojar.</a:t>
            </a:r>
          </a:p>
          <a:p>
            <a:br/>
            <a:pPr>
              <a:defRPr sz="1000">
                <a:solidFill>
                  <a:srgbClr val="F1F5F9"/>
                </a:solidFill>
              </a:defRPr>
            </a:pPr>
            <a:r>
              <a:t>4. ¿Qué es lb:// y quién lo resuelve?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Es un esquema lógico de Spring Cloud LoadBalancer. El filtro reactivo del Gateway consulta la lista de instancias vivas en Eureka y reescribe la URL física.</a:t>
            </a:r>
          </a:p>
          <a:p>
            <a:br/>
            <a:pPr>
              <a:defRPr sz="1000">
                <a:solidFill>
                  <a:srgbClr val="F1F5F9"/>
                </a:solidFill>
              </a:defRPr>
            </a:pPr>
            <a:r>
              <a:t>5. ¿Por qué Round Robin es suficiente para Stateless?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Porque no se guarda sesión de usuario en memoria RAM; todo el estado reside en PostgreSQL compartida. Cada petición es químicamente autónoma.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solidFill>
              <a:srgbClr val="070B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18CF8"/>
                </a:solidFill>
              </a:defRPr>
            </a:pPr>
            <a:r>
              <a:t>CHASKIPC • EVALUACIÓN UNIDAD I (S1 A S5) • EQUIPO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5. Rúbrica Oficial de Evaluación de la Unidad I (Nota de Equipo)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0B981"/>
                </a:solidFill>
              </a:defRPr>
            </a:pPr>
            <a:r>
              <a:t>🎤 Nota Estimada: 20/20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  <a:gridCol w="1371600"/>
                <a:gridCol w="4754880"/>
              </a:tblGrid>
              <a:tr h="6270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Criterio Oficial del Sílabo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Peso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Nivel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Justificación Técnica del Equipo 01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1. Servicio REST funcional y persistente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JPA sobre PostgreSQL (5433), CRUD de órdenes con DataInitializer y 18% IGV.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2. Configuración externa por ambiente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Config Server operativo con segregación real entre DEV y PROD en config-repo.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3. Registro y descubrimiento de servicios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Eureka Server administrando el ciclo de vida y latidos de todos los nodos en vivo.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4. Punto único de acceso mediante Gateway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Spring Cloud Gateway enrutando peticiones dinámicas en el puerto 18080 con lb://.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5. Distribución de tráfico entre instancias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Dos réplicas (8082 y 8083) balanceadas por Round Robin y tolerancia a fallos.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6. Ejecución reproducible y documentación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Nivel A (20)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</a:defRPr>
                      </a:pPr>
                      <a:r>
                        <a:t>Lanzadores de 1 clic, README completo y portabilidad multi-entorno probada.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
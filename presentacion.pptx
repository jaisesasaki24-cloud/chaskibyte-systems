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SUSTENTACIÓN OFICIAL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EQUIPO 01 (5TO CICLO)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CHASKIPC • HARDWARE &amp; GAMING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Sistema Distribuido para la Venta y Facturación de Componentes de Alta Gama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01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👤 INTEGRANTE 1: ELICEO PARILLO MOSTAJO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Rol: Arquitectura Backend, Infraestructura Spring Cloud &amp; Persistencia.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Microservicio Transaccional: pc-orden-ms (Cabecera-Detalle, IGV 18%, PostgreSQL :5433).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Microservicio No Transaccional: pc-catalogo-ms (Catálogo de Hardware y Stock :8081).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Componentes Core: Config Server (:8888), Eureka Server (:8761), API Gateway (:18080).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Observabilidad: Prometheus (:19090) y Grafana (:13000) con dashboards JVM.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6695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👤 INTEGRANTE 2: LAURA VARGAS CRISTHIAN PAUL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Rol: Pasarela de Pagos, Seguridad Perimetral y Contratos REST.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Microservicio Transaccional: pc-pago-ms (Integración Mercado Pago Sandbox y Webhooks).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Microservicio No Transaccional: pc-auth-ms (Gestión de Identidad y Control de Acceso).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Seguridad Distribuida: Aislamiento perimetral en Gateway (cero acceso directo a microservicios).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Configuración Segura: Variables de entorno para credenciales en perfil PROD.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1: PROBLEMÁTICA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HABLA: ELICEO PARILLO (MIN 0-4)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LÍMITES DEL MONOLITO EN CHASKIPC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Justificación técnica del desacoplamiento hacia una arquitectura distribuida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02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34290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💥 CUELLO DE BOTELLA MONOLÍTICO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Puntos Críticos Detectados: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Caída total de la tienda ante picos de concurrencia en lanzamientos gamer.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Bloqueo en BD compartida por bloqueo mutuo entre catálogo y checkout.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Escalamiento ineficiente: obligaba a duplicar todo el artefacto monolítico pesado.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Impacto al Negocio: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Pérdida de órdenes en caliente y degradación de la experiencia de compra.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2057400"/>
            <a:ext cx="34290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221992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🔄 TRANSICIÓN A MICROSERVICIOS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Desacoplamiento Estructural: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Bases de datos independientes por servicio (Database-per-Service).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Escalamiento elástico horizontal de réplicas transaccionales (:8082, :8083).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Despliegues independientes sin interrumpir módulos de autenticación o inventario.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Tolerancia a Fallos: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Una falla en pagos o catálogo no detiene la navegación de clientes.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2057400"/>
            <a:ext cx="34290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2221992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🎯 OBJETIVOS DE LA SOLUCIÓN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Metas Arquitecturales S05: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1. Descubrimiento dinámico de réplicas mediante Eureka Service Registry.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2. Enrutamiento unificado y balanceo Round-Robin con Spring Cloud Gateway.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3. Configuración externalizada versionada con Spring Cloud Config Server.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4. Cálculo automático de IGV 18% y persistencia transaccional cabecera-detalle.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2: SOLUCIÓN TÉCNICA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HABLA: ELICEO PARILLO (MIN 0-4)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ARQUITECTURA DISTRIBUIDA EN 4 CAPAS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Ecosistema desacoplado conforme a la Guía Oficial de Evaluación S05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03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25146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🚪 CAPA 1: GATEWAY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Spring Cloud Gateway (:18080):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Punto único de entrada perimetral.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Enrutamiento lb:// balanceado.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Filtros globales de trazabilidad.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Control de CORS unificado.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2057400"/>
            <a:ext cx="25146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4176" y="2221992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📡 CAPA 2: REGISTRY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Eureka Server (:8761):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Service Registry en memoria.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Heartbeats cada 30 segundos.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Health check automático.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Detección de réplicas en caliente.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2057400"/>
            <a:ext cx="25146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221992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⚙️ CAPA 3: CONFIG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Config Server (:8888):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Repositorio local config-repo.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Perfiles DEV vs PROD aislados.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Refresh de beans en caliente.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Centralización de application.yml.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42832" y="2057400"/>
            <a:ext cx="25146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2221992"/>
            <a:ext cx="2057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📦 CAPA 4: SERVICIOS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Ecosistema de Microservicios: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pc-orden-ms (:8082, :8083)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pc-catalogo-ms (:8081)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pc-pago-ms (:8084)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pc-auth-ms (:8085)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PostgreSQL (:5433)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2: SOLUCIÓN TÉCNICA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HABLA: CRISTHIAN PAUL (MIN 4-8)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FICHAS TÉCNICAS &amp; CONTRATOS REST (2 POR INTEGRANTE)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Asignación equitativa de microservicios transaccionales y no transaccionales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04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👤 ELICEO PARILLO: CATÁLOGO Y ÓRDENES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pc-orden-ms (Transaccional Core):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Cabecera-detalle con cálculo de Subtotal, IGV 18% y Total general.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POST /api/v1/ordenes (201 Created)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GET /api/v1/ordenes/{id} (200 OK / 404 Not Found)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GET /api/v1/ordenes/instancia (Comprueba balanceo Round-Robin)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pc-catalogo-ms (No Transaccional):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Gestión de productos (CPUs, GPUs, RAM, Motherboards) y stock.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GET /api/v1/productos (200 OK)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GET /api/v1/productos/{id} (200 OK / 404 Not Found)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6695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👤 CRISTHIAN PAUL: PAGOS Y AUTENTICACIÓN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pc-pago-ms (Transaccional):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Integración con SDK Mercado Pago Sandbox para cobros en línea.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Procesamiento de tarjeta, montos y webhooks de confirmación.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POST /api/v1/pagos (201 Created / 400 Bad Request)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POST /api/v1/pagos/webhook (200 OK)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pc-auth-ms (No Transaccional):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Gestión de identidad, roles y perfiles de cliente (DNI/RUC).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Seguridad perimetral validada desde el Gateway.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POST /api/v1/auth/login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2: SOLUCIÓN TÉCNICA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HABLA: CRISTHIAN PAUL (MIN 4-8)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CONFIGURACIÓN EXTERNALIZADA DEV VS PROD (FACTOR III)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El mismo artefacto JAR opera en desarrollo y producción sin recompilar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05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🛠️ PERFIL DEV (ORDEN-MS-DEV.YML)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Base de datos local: localhost:5433/orden_db.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DDL Hibernate: update para iteración ágil y pruebas de laboratorio.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Nivel de Log: DEBUG para diagnóstico exhaustivo en terminal.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Actuator: Expone health, info, metrics y prometheus.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Eureka Server: http://localhost:8761/eureka/.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6695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🚀 PERFIL PROD (ORDEN-MS-PROD.YML)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Red interna Docker aislada: pagatu-prod-net.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Credenciales protegidas: Variables ${POSTGRES_USER} y ${POSTGRES_PASSWORD}.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DDL Hibernate: validate (máxima protección de integridad relacional).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Actuator seguro: Detalles de endpoints internos ocultos al exterior.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Eureka Server: Resolución mediante nombre de contenedor en Docker.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2: SOLUCIÓN TÉCNICA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HABLA: ELICEO PARILLO (MIN 0-4)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MATRIZ INTEGRAL DE MAPEO MULTICAPA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Mapeo desacoplado en Gateway, Eureka, Hibernate JPA y Códigos HTTP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06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10728655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102714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🗺️ MATRIZ DE MAPEO DEL SISTEMA DISTRIBUIDO CHASKIPC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1. Mapeo Gateway: /api/v1/ordenes/** -&gt; lb://pagatu-orden-ms (Round Robin balanceado entre réplicas :8082 y :8083).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2. Mapeo Gateway: /api/v1/productos/** -&gt; lb://pagatu-catalogo-ms (Puerto :8081).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3. Mapeo Gateway: /api/v1/pagos/** -&gt; lb://pc-pago-ms | /api/v1/auth/** -&gt; lb://pc-auth-ms.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4. Mapeo Eureka: spring.application.name coincide en mayúsculas; instance-id dinámico evita colisiones en el mismo host.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5. Mapeo JPA: @Entity Orden (@Table 'ordenes') y DetalleOrden (@Table 'orden_detalles') con relación @OneToMany.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6. Mapeo Jackson: @JsonManagedReference y @JsonBackReference previenen bucle cíclico en serialización JSON.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7. Mapeo Códigos HTTP: 201 Created (alta exitosa), 200 OK (consulta), 400 Bad Request (validación), 404 Not Found.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3: PRUEBAS &amp; SUSTENTACIÓN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AMBOS PONENTES (MIN 0-18)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GUION DE SUSTENTACIÓN A DOS VOCES (18 MINUTOS)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Estructura oficial minuto a minuto basada en la Tabla 5 de la Guía S05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07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34290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⏱️ BLOQUE 1: EXPOSICIÓN (8 MIN)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Min 0 - 4 (Eliceo Parillo):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Problemática del monolito.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Arquitectura base 4 capas.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Eureka, Config y Gateway.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Min 4 - 8 (Cristhian Paul):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Fichas técnicas y contratos REST.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Modelo cabecera-detalle con IGV.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Perfiles DEV vs PROD.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2057400"/>
            <a:ext cx="34290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221992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💻 BLOQUE 2: DEMO EN VIVO (5 MIN)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Min 8 - 10.5 (Cristhian Paul):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Ejecución de Caso 201 Created.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Verificación de IGV 18% en BD.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Prueba de validación 400 y 404.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Min 10.5 - 13 (Eliceo Parillo):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4 peticiones de balanceo Round-Robin.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Tolerancia a fallos apagando 8082.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2057400"/>
            <a:ext cx="342900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2221992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🎙️ BLOQUE 3: PREGUNTAS (5 MIN)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Min 13 - 18 (Ronda Individual):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Eliceo responde P1 y P2 del balotario.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Cristhian Paul responde P3, P4 y P5.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Calificación esperada: 20 / 20 Puntos.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3: PRUEBAS &amp; EVIDENCIAS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DEMOSTRACIÓN DE EVIDENCIAS (MIN 8-13)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EJEMPLOS DE FUNCIONAMIENTO REAL DEL ECOSISTEMA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Capturas operativas del registro en Eureka Server y ejecución HTTP en consola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08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484632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4389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📸 7 EVIDENCIAS, URLS Y COMANDOS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01. Config (:8888): http://localhost:8888/pagatu-orden-ms/dev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  CMD: cd pagatu-config ; .\mvnw.cmd spring-boot:run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02. Eureka (:8761): http://localhost:8761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  CMD: cd pagatu-eureka ; .\mvnw.cmd spring-boot:run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03. Catálogo (:8081): http://localhost:18080/api/v1/productos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  CMD: cd pagatu-catalogo-ms ; .\mvnw.cmd spring-boot:run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04. Orden R1 (:8082): http://localhost:8082/api/v1/ordenes/instancia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  CMD: cd pagatu-orden-ms ; .\mvnw.cmd spring-boot:run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05. Orden R2 (:8083): http://localhost:8083/api/v1/ordenes/instancia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  CMD: $env:SERVER_PORT='8083' ; .\mvnw.cmd spring-boot:run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06. Dashboard (:8761): http://localhost:8761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  PowerShell: Start-Process http://localhost:8761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07. Pruebas CRUD (:18080): http://localhost:18080/api/v1/ordenes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  PowerShell: Invoke-RestMethod -Uri .../ordenes -Method POST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057400"/>
            <a:ext cx="5699455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videncia_6_eureka_web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40280"/>
            <a:ext cx="5333695" cy="2926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0" y="5303520"/>
            <a:ext cx="53336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🔗 ENLACES DE APERTURA DIRECTA DE EVIDENCIAS:</a:t>
            </a:r>
          </a:p>
          <a:p>
            <a:pPr>
              <a:defRPr sz="800">
                <a:solidFill>
                  <a:srgbClr val="A1A1AA"/>
                </a:solidFill>
              </a:defRPr>
            </a:pPr>
            <a:r>
              <a:t>• Abrir Captura Alta Res: file:///C:/Users/USUARIO/Documents/Tarea Eureka/evidencia_6_eureka_web_dashboard.png</a:t>
            </a:r>
          </a:p>
          <a:p>
            <a:pPr>
              <a:defRPr sz="800">
                <a:solidFill>
                  <a:srgbClr val="10B981"/>
                </a:solidFill>
              </a:defRPr>
            </a:pPr>
            <a:r>
              <a:t>• Eureka Web Dashboard: http://localhost:8761  |  Cockpit Web: http://localhost:5050/presentacion.html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500000">
            <a:off x="-1371600" y="1097280"/>
            <a:ext cx="4114800" cy="4114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0400000">
            <a:off x="6858000" y="-914400"/>
            <a:ext cx="4572000" cy="4572000"/>
          </a:xfrm>
          <a:prstGeom prst="rect">
            <a:avLst/>
          </a:prstGeom>
          <a:solidFill>
            <a:srgbClr val="18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00000">
            <a:off x="9601200" y="3200400"/>
            <a:ext cx="3657600" cy="3657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700000">
            <a:off x="731520" y="384048"/>
            <a:ext cx="384048" cy="384048"/>
          </a:xfrm>
          <a:prstGeom prst="roundRect">
            <a:avLst/>
          </a:prstGeom>
          <a:solidFill>
            <a:srgbClr val="14171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004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CHASKIPC</a:t>
            </a:r>
          </a:p>
          <a:p>
            <a:pPr>
              <a:defRPr sz="750">
                <a:solidFill>
                  <a:srgbClr val="71717A"/>
                </a:solidFill>
              </a:defRPr>
            </a:pPr>
            <a:r>
              <a:t>SISTEMA DISTRIBUIDO • PILAR 3: PRUEBAS &amp; CENTRO DE MANDO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"/>
            <a:ext cx="3413455" cy="41148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👤 EJECUCIÓN CONJUNTA EN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CENTRO DE MANDO EN VIVO &amp; PRUEBAS OFICIALES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1A1AA"/>
                </a:solidFill>
              </a:defRPr>
            </a:pPr>
            <a:r>
              <a:t>Control de scripts, monitor de salud en tiempo real y ejecución de pruebas con 1 clic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10728655" cy="10972"/>
          </a:xfrm>
          <a:prstGeom prst="rect">
            <a:avLst/>
          </a:prstGeom>
          <a:solidFill>
            <a:srgbClr val="2A3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847088"/>
            <a:ext cx="640080" cy="45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717A"/>
                </a:solidFill>
              </a:defRPr>
            </a:pPr>
            <a:r>
              <a:t>CHASKIPC • EVALUACIÓN OFICIAL SESIÓN S05                                                           09 / 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🚀 LANZADORES E INICIADORES DE CARPETA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[▶️ Iniciar Todo el Ecosistema]: Arranca los 5 microservicios en consolas separadas.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[🐘 Iniciar PostgreSQL]: Levanta contenedor en puerto 5433.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[📊 Iniciar Observabilidad]: Arranca Prometheus y Grafana.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[🧹 Limpiar Puertos]: Libera puertos bloqueados en la PC de laboratorio.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Enlaces Rápidos: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Eureka: http://localhost:8761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Gateway Órdenes: http://localhost:18080/api/v1/ordenes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Config Server: http://localhost:8888/pagatu-orden-ms/dev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2057400"/>
            <a:ext cx="5212080" cy="4251960"/>
          </a:xfrm>
          <a:prstGeom prst="roundRect">
            <a:avLst/>
          </a:prstGeom>
          <a:solidFill>
            <a:srgbClr val="14171F"/>
          </a:solidFill>
          <a:ln w="12700">
            <a:solidFill>
              <a:srgbClr val="2A30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6695" y="2221992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⚡ PRUEBAS OFICIALES ASIGNADAS POR INTEGRANTE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[Cristhian Paul] ⚡ Caso 201 Created: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Crea orden de compra con IGV 18% y muestra ID generado.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[Cristhian Paul] ⚡ Caso 400 Bad Request: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Envía payload vacío y valida captura de error sin caída.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[Cristhian Paul] ⚡ Caso 404 Not Found: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Consulta ID inexistente 99999 y comprueba código 404.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[Eliceo Parillo] 🔄 Balanceo Round-Robin: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4 peticiones demostrando alternancia entre 8082 y 8083.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[Eliceo Parillo] 🛑 Tolerancia a Fallos en Caliente:</a:t>
            </a:r>
          </a:p>
          <a:p>
            <a:pPr>
              <a:spcAft>
                <a:spcPts val="400"/>
              </a:spcAft>
              <a:defRPr sz="950">
                <a:solidFill>
                  <a:srgbClr val="D4D4D8"/>
                </a:solidFill>
              </a:defRPr>
            </a:pPr>
            <a:r>
              <a:t>▪   • Detiene réplica 8082 y el Gateway responde desde 8083.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
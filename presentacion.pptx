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SUSTENTACIÓN OFICIAL UNIDAD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CHASKIPC • HARDWARE &amp; GAMING STORE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Sistema Distribuido Base para la Venta y Facturación de Cómputo de Alto Rendimiento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EQUIPO 01 • UPEU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01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👤 Integrante 1: Eliceo Parillo Mostajo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Rol: Arquitectura Backend, Infraestructura Spring Cloud &amp; Persistencia.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pc-orden-ms (Transaccional): Cabecera-Detalle, IGV 18%, PostgreSQL (:5433).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pc-catalogo-ms (No Transaccional): Catálogo de Hardware &amp; Stock Gamer (:8081).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Infraestructura Core: Config Server (:8888), Eureka (:8761), Gateway (:18080).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Observabilidad: Prometheus (:19090) y Grafana (:13000) con dashboards JVM.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👤 Integrante 2: Laura Vargas Cristhian Paul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Rol: Pasarela de Pagos, Seguridad Perimetral y Contratos REST.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pc-pago-ms (Transaccional): Integración Mercado Pago Sandbox y Webhooks.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pc-auth-ms (No Transaccional): Gestión de Identidad y Control de Acceso.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pc-cliente-ms: Perfil de cliente con validadores RENIEC (DNI) y SUNAT (RUC).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Seguridad Distribuida: Aislamiento perimetral total desde el Gateway.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ROADMAP UNIDAD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EVOLUCIÓN ARQUITECTURAL DEL SISTEMA BASE (S1 A S5)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Lo que se construyó y acumuló progresivamente en el producto de Unidad I (Tabla 1)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HABLA: ELICEO PARILLO (MIN 0-4)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02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17007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S01. Servicio Base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CRUD REST completo en catalogo-ms y orden-ms.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Persistencia en PostgreSQL :5433.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Swagger, Actuator y multi-instancia.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240279"/>
            <a:ext cx="17007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S02. Config Server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Spring Cloud Config en puerto :8888.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Repositorio config-repo externo.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Factor III: Perfiles dev y prod sin secretos.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4064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5" y="2240279"/>
            <a:ext cx="17007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S03. Eureka Server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Registro dinámico en puerto :8761.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Latidos heartbeats cada 30 segundos.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Observabilidad Prometheus y Grafana.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0336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7" y="2240279"/>
            <a:ext cx="17007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S04. API Gateway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Gateway reactivo Netty en :18080.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Resolución de rutas lb:// dinámicas.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Balanceo Round-Robin verificado.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36608" y="2103120"/>
            <a:ext cx="2029968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240279"/>
            <a:ext cx="170078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S05. Ensamblaje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Ecosistema 100% ensamblado.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Cero puertos internos expuestos.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Calificación formal: 20/20 Nivel 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PILAR 1 • PROBLEMÁTICA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LÍMITES CRÍTICOS DEL MODELO MONOLÍTICO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¿Por qué el e-commerce de cómputo de alta gama exige arquitectura de microservicios?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HABLA: ELICEO PARILLO (MIN 0-4)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03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💥 1. Colapso en Alta Demanda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CyberDays y lanzamientos provocan miles de consultas masivas.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Las lecturas saturan la cola de procesamiento del monolito.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El servidor de ventas se congela y no se cobran pedidos.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Pérdida directa de facturación y abandono de clientes.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⛓️ 2. Punto Único de Falla (SPOF)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Todos los módulos conviven en el mismo ejecutable y JVM.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Si falla la pasarela o el cotizador, se paraliza la tienda.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Un bug en reportes tumba el carrito de compras.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Cero aislamiento de fallos ni tolerancia activa.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📈 3. Escalado Ineficiente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El catálogo se consulta hasta 10 veces más de lo que se compra.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El monolito obliga a duplicar toda la aplicación completa.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Desperdicio crítico de memoria RAM y núcleos de CPU.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Microservicios: Permite escalar solo el microservicio saturado.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PILAR 2 • SOLUCIÓN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ARQUITECTURA DISTRIBUIDA BASE (4 CAPAS)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Diseño modular desacoplado orientado a producción bajo principios Twelve-Factor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HABLA: ELICEO PARILLO (MIN 0-4)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04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25146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21854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🚪 1. Borde / Gateway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Spring Cloud Gateway.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Puerto :18080 DEV / :28080 PROD.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Netty reactivo no bloqueante.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Rutas lb:// y Round-Robin.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103120"/>
            <a:ext cx="25146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2240279"/>
            <a:ext cx="21854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📡 2. Infraestructura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Eureka Server en puerto :8761.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Config Server en puerto :8888.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Latidos periódicos cada 30s.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Repositorio config-repo.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103120"/>
            <a:ext cx="25146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240279"/>
            <a:ext cx="21854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⚙️ 3. Negocio / Core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pc-catalogo-ms (:8081).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pc-orden-ms R1 (:8082).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pc-orden-ms R2 (:8083).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pc-cliente-ms (:8084).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2103120"/>
            <a:ext cx="25146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5712" y="2240279"/>
            <a:ext cx="21854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💾 4. Persistencia &amp; Obs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PostgreSQL Docker (:5433).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Prometheus (:19090).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Grafana (:13000) dashboards JVM.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Loki (:13100) &amp; Promtail.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PILAR 2 • CONTRATOS 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FICHAS TÉCNICAS &amp; CONTRATOS REST SEGREGADOS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2 microservicios asignados por estudiante con DTOs, validaciones y códigos HTTP normalizados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HABLA: CRISTHIAN PAUL (MIN 4-8)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05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📦 Microservicios de Eliceo Parillo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pc-orden-ms (Transaccional - Puertos :8082 / :8083):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Modelo Cabecera-Detalle: Orden -&gt; DetalleOrden con @OneToMany.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Cálculo fiscal automatizado: Subtotal, IGV del 18% y Total.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POST /api/v1/ordenes (201 Created) | GET /{id} (200 OK / 404).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pc-catalogo-ms (No Transaccional - Puerto :8081):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Familias de hardware gamer: CPUs, GPUs, RAMs, SSDs.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GET /api/v1/productos (200 OK) y GET /api/v1/categorias.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💳 Microservicios de Cristhian Paul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pc-pago-ms (Transaccional):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Pasarela externa integrada con Mercado Pago Sandbox.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POST /api/v1/pagos (201 Created / 400 Bad Request).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Webhooks asíncronos para transición de estados de compra.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pc-cliente-ms (No Transaccional - Puerto :8084):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Perfil de cliente con validadores de identidad nacionales.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GET /api/v1/clientes/consulta-reniec/{dni} (8 dígitos).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GET /api/v1/clientes/consulta-sunat/{ruc} (11 dígitos, ACTIVO/HABIDO).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PILAR 2 • FACTOR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CONFIGURACIÓN EXTERNALIZADA DEV VS PROD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Principio del Artefacto Inmutable: el mismo JAR opera en desarrollo y producción sin recompilar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HABLA: CRISTHIAN PAUL (MIN 4-8)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06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🛠️ Perfil DEV (orden-ms-dev.yml)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Base de datos local: localhost:5433/orden_db.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DDL Hibernate: update (esquema evolutivo automático).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Nivel de Log: DEBUG (rastreo detallado de sentencias SQL e hilos).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Actuator: Expone health, info, metrics y prometheus abiertamente.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Eureka Server: Registro en http://localhost:8761/eureka/.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🚀 Perfil PROD (orden-ms-prod.yml)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Red interna Docker: Aislada en red puente pagatu-prod-net.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Credenciales protegidas: Variables ${POSTGRES_PASSWORD} (cero secretos en Git).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DDL Hibernate: validate (protección estricta contra alteraciones).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Actuator seguro: Información sensible oculta al exterior.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Resolución de host por nombre DNS de contenedor en Docker.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PILAR 2 • MATRIZ DE MAPEO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MATRIZ INTEGRAL DE MAPEO MULTICAPA Y PUERTOS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Segregación de puertos DEV vs PROD y resolución dinámica de tráfico (Tabla 3 de la Guía)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HABLA: ELICEO PARILLO (MIN 0-4)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07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🗺️ Mapeo Lógico en API Gateway (:18080)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1. /api/v1/ordenes/** -&gt; lb://pagatu-orden-ms (Round Robin :8082/:8083).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2. /api/v1/productos/** -&gt; lb://pagatu-catalogo-ms (:8081).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3. /api/v1/clientes/** -&gt; lb://pagatu-cliente-ms (:8084).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4. /api/v1/pagos/** -&gt; lb://pc-pago-ms.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5. Mapeo Jackson: @JsonManagedReference y @JsonBackReference eliminan bucles.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🌐 Matriz Oficial de Puertos (Tabla 3)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pagatu-gateway: DEV :18080 | PROD interno :8080 | Expuesto :28080.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pagatu-config:  DEV :8888  | PROD interno :8888 | Expuesto :28888.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pagatu-eureka:  DEV :8761  | PROD interno :8761 | Expuesto :28761 (Web).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pagatu-catalogo-ms: DEV :8081 | PROD interno :8080 | Sin exponer.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pagatu-orden-ms:    DEV :8082/:8083 | PROD :8080   | Sin exponer.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Principio Perimetral: Todo el tráfico de negocio entra únicamente por Gateway.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GLOSARIO EJECUTIVO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PALABRAS CLAVE DE INGENIERÍA DISTRIBUIDA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Fundamentos conceptuales y terminología formal que evalúa el Ing. Abel Sullón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PALABRAS CLAVE CLAVE PARA EL DOCENTE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08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🌐 Registro &amp; Descubrimiento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Desacoplamiento Espacial: Invocación por nombre lógico (PAGATU-ORDEN-MS).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Heartbeats (Latidos): Cada 30 seg renuevan el arrendamiento.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Eviction Timer: Desalojo automático a los 90 seg si faltan 3 latidos.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Self-Preservation Mode: Protección ante particiones masivas de 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🚪 Tráfico &amp; Gateway Reactivo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WebFlux &amp; Netty: Event-Loop reactivo (cero hilos bloqueados).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Pseudo-esquema lb://: Resuelto por Spring Cloud LoadBalancer.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Client-Side Load Balancing: Decisión tomada en memoria del Gateway.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Round-Robin en Stateless: Reparto 1:1 equitativo sin sticky sessions.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💾 Persistencia &amp; Twelve-Factor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Factor III (Config): Artefacto inmutable desplegable en DEV y PROD.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Cabecera-Detalle: Orden -&gt; Detalle con cálculo de 18% IGV.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Recursión Jackson: Mitigación con ManagedReference y BackReference.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Semántica HTTP: Retorno de 201 Created, 400 Bad Request, 404 Not Found.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RÚBRICA OFICIAL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RÚBRICA OFICIAL &amp; CRITERIOS DE CALIFICACIÓN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Demostración formal del cumplimiento sobresaliente en los 6 criterios del sílabo (Tabla 7)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EVALUACIÓN DE UNIDAD I • S05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09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📋 Criterios 1 a 3 (50% de la Nota)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1. Servicio REST funcional y persistente (15%): Nivel A (20 pts)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CRUD completo de órdenes en PostgreSQL :5433 con cálculo de 18% IGV.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2. Configuración externa por ambiente (15%): Nivel A (20 pts)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Config Server leyendo de config-repo con perfiles dev y prod segregados.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3. Registro y descubrimiento operativo (20%): Nivel A (20 pts)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Eureka Server con 5 servicios registrados y visibles en dashboard :8761.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📋 Criterios 4 a 6 (50% de la Nota)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4. Punto único de acceso mediante Gateway (20%): Nivel A (20 pts)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Gateway en :18080 resolviendo rutas lb:// dinámicas sin acceso directo.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5. Distribución de tráfico entre instancias (20%): Nivel A (20 pts)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2 réplicas de orden-ms balanceadas por Round-Robin y tolerancia probada.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6. Evidencias reproducibles y documentación (10%): Nivel A (20 pts)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Scripts de 1 clic (iniciar_todo), README exhaustivo y 7 capturas 1080p.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NOTA FINAL = 100% Nivel A -&gt; 20.00 / 20.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BALOTARIO OFICIAL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BALOTARIO TEÓRICO-PRÁCTICO RESUELTO (TABLA 4)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Respuestas técnicas directas con las palabras clave requeridas por el docente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DEFENSA INDIVIDUAL • TABLA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10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🎙️ Preguntas Asignadas a Eliceo Parillo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P1: ¿Por qué evitar puertos fijos y cómo verificar concurrencia?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R: Los puertos fijos impiden el escalado elástico y provocan colisiones de red. Con puertos dinámicos ($env:SERVER_PORT=8083), múltiples réplicas corren en el mismo host y se registran en Eureka con instance-id único.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P2: ¿Diferencia entre propiedad fija y Config Server (DEV vs PROD)?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R: Principio Twelve-Factor III: estricta separación de configuración y código. Un solo JAR inmutable se despliega en DEV y PROD alternando el perfil activo sin recompilar y sin exponer credenciales en Git.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🎙️ Preguntas Asignadas a Cristhian Paul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P3: Si apagas una instancia, ¿cómo se entera Eureka y por qué no es instantáneo?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R: Por latidos heartbeats (30s). Eureka espera la expiración del arrendamiento (90s o 3 latidos) antes del eviction timer. Evita desalojos prematuros por parpadeos de red y activa el Self-Preservation Mode.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P4: ¿Por qué lb:// no es real y qué componente lo resuelve?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R: Es un pseudo-esquema URI lógico resuelto por Spring Cloud LoadBalancer consultando el Eureka Client para obtener los sockets físicos.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P5: ¿Por qué Round-Robin es suficiente para instancias sin estado?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R: Porque las réplicas son stateless. El estado reside en PostgreSQL.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PILAR 3 • GUION DE SUSTENTACIÓN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GUION DE SUSTENTACIÓN A DOS VOCES (18 MINUTOS)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Distribución sincronizada por minuto entre Eliceo Parillo y Cristhian Paul (Tabla 5)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AMBOS PONENTES (MIN 0-18)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11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⏱️ Bloque 1: Exposición (8 Min)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Marco teórico y arquitectura: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Min 0 - 4 (Eliceo Parillo):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Problemática del monolito.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Arquitectura distribuida base en 4 capas.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Roles de Eureka, Config y Gateway.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Min 4 - 8 (Cristhian Paul):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Fichas técnicas y contratos REST.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Modelo Cabecera-Detalle y 18% IGV.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Factor III: Configuración DEV vs PROD.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💻 Bloque 2: Demo en Vivo (5 Min)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Demostración técnica en caliente: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Min 8 - 10.5 (Cristhian Paul):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Caso 201 Created (POST orden con IGV).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Caso 400 Bad Request (Validación).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Caso 404 Not Found (ID inexistente).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Min 10.5 - 13 (Eliceo Parillo):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Balanceo Round-Robin (4 solicitudes).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Tolerancia a fallos: Detención en vivo de :8082 demostrando alta disponibilidad.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03120"/>
            <a:ext cx="342900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2240279"/>
            <a:ext cx="30998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🎙️ Bloque 3: Preguntas (5 Min)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Defensa del balotario oficial: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Min 13 - 18 (Ronda Individual):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Preguntas individuales del Ing. Abel Sullón.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Eliceo defiende P1 (Puertos) y P2 (Config).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Cristhian defiende P3 (Latidos), P4 (lb://) y P5 (Round Robin).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• Demostración de autoría propia.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Meta de Calificación: 20/20.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PILAR 3 • EVIDENCIAS EN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EJEMPLOS DE FUNCIONAMIENTO REAL DEL ECOSISTEMA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Capturas de terminales, registro en Eureka Server y respuestas HTTP en consola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CAPTURAS OFICIALES DEL 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12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38404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35112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📸 Catálogo de Evidencias 1080p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01. Config Server Centralizado (:8888) - config-repo.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02. Eureka Server (:8761) - Registro dinámico.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03. pc-catalogo-ms (:8081) - Catálogo gamer.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04. pc-orden-ms Instancia 1 (:8082) - BD PostgreSQL.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05. pc-orden-ms Instancia 2 (:8083) - Balanceo.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06. Dashboard Web de Eureka - 5 instancias UP.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07. Pruebas CRUD PowerShell - POST 201 y 18% IGV.</a:t>
            </a:r>
          </a:p>
        </p:txBody>
      </p:sp>
      <p:pic>
        <p:nvPicPr>
          <p:cNvPr id="15" name="Picture 14" descr="evidencia_6_eureka_web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03120"/>
            <a:ext cx="65836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 SYSTEMS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ECOSISTEMA DISTRIBUIDO • UPEU 2026-2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84048"/>
            <a:ext cx="3017520" cy="384048"/>
          </a:xfrm>
          <a:prstGeom prst="roundRect">
            <a:avLst/>
          </a:prstGeom>
          <a:solidFill>
            <a:srgbClr val="14171F"/>
          </a:solidFill>
          <a:ln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PILAR 3 • CENTRO DE MANDO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CENTRO DE MANDO EN VIVO &amp; PRUEBAS OFICIALES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Control de scripts, monitor de salud en tiempo real y ejecución de pruebas con 1 clic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56231"/>
            <a:ext cx="1097280" cy="54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1A1AA"/>
                </a:solidFill>
              </a:defRPr>
            </a:pPr>
            <a:r>
              <a:t>🎙️  EJECUCIÓN CONJUNTA EN VIVO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13 / 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⚡ Cockpit Integrado en http://localhost:5050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1. Lanzadores de 1 Clic: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Iniciar Ecosistema Completo (iniciar_todo.bat)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Iniciar PostgreSQL 15 en Docker (:5433)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Iniciar Grafana (:13000) y Prometheus (:19090)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Limpieza preventiva de puertos huérfanos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2. Health Check en Tiempo Real: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   • Polling activo a 8 servicios (Eureka, Gateway, Config, Catalogo, Orden 1, Orden 2, Postgres, Grafana).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5212080" cy="3840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240279"/>
            <a:ext cx="488289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🧪 Suite de Pruebas Oficiales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1. Test 201 Created: Emite orden con IGV 18% persistida en BD.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2. Test 400 Bad Request: Valida rechazo por cliente nulo.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3. Test 404 Not Found: Consulta ID inexistente (99999).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4. Test Balanceo: Envía 4 peticiones comprobando Round-Robin.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5. Kill :8082: Detiene instancia forzosamente demostrando tolerancia a fallos en vivo sin corte de servicio.</a:t>
            </a:r>
          </a:p>
          <a:p>
            <a:pPr>
              <a:defRPr sz="900">
                <a:solidFill>
                  <a:srgbClr val="A1A1AA"/>
                </a:solidFill>
              </a:defRPr>
            </a:pPr>
            <a:r>
              <a:t>▪  Todo ejecutable directamente desde presentacion.html.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